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75" r:id="rId13"/>
    <p:sldId id="277" r:id="rId14"/>
    <p:sldId id="272" r:id="rId15"/>
    <p:sldId id="266" r:id="rId16"/>
    <p:sldId id="267" r:id="rId17"/>
    <p:sldId id="268" r:id="rId18"/>
    <p:sldId id="276" r:id="rId19"/>
    <p:sldId id="270" r:id="rId20"/>
    <p:sldId id="271" r:id="rId21"/>
    <p:sldId id="269" r:id="rId22"/>
    <p:sldId id="273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-2654" y="-20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029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3562-F368-003C-5EF0-7B9EEFA7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C3228-F6E6-A735-B340-B95210656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AA86E-47EA-1438-C27A-7508C4A7D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56F3A-9421-1DC3-9103-4BB13FA08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29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C4391-7D8A-9C10-2EA4-F990C1286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736C6-92DD-500F-FBED-1B90EC147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A5ECD-AE19-8823-628C-A0F3BFE29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975A4-2193-40C2-0450-58C5AC6AFE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45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B0D9-E7DB-F0C3-245D-987F21846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49B03-6D3A-197C-123B-205DAF7DF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C173D-59BC-B75B-9ACF-B3E7AC2BC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77022-E2B2-3656-FF26-53F3B2131D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97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81AB4-457B-5D8A-2F5E-B0E02DC39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22DE2-6B91-36AA-CD5C-047A17C42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1D1CD-5F8F-0108-B65E-8A3141FF1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F97DE-52DD-F7C0-B6C8-309BF0CA80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853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1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1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051560"/>
            <a:ext cx="777240" cy="777240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12536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057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DEVOPS CAPSTONE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Health Platform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6007519" y="3414441"/>
            <a:ext cx="2177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 </a:t>
            </a: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 Track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5C5567-8F80-1BD4-5760-5561FDB8B5C8}"/>
              </a:ext>
            </a:extLst>
          </p:cNvPr>
          <p:cNvSpPr txBox="1"/>
          <p:nvPr/>
        </p:nvSpPr>
        <p:spPr>
          <a:xfrm>
            <a:off x="6191631" y="3944630"/>
            <a:ext cx="34381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err="1">
                <a:solidFill>
                  <a:schemeClr val="bg1"/>
                </a:solidFill>
              </a:rPr>
              <a:t>Github</a:t>
            </a:r>
            <a:r>
              <a:rPr lang="en-IN" sz="1100" dirty="0">
                <a:solidFill>
                  <a:schemeClr val="bg1"/>
                </a:solidFill>
              </a:rPr>
              <a:t> Actions Certified   -  GH200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Aegis?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production-grade, AI-powered health management platform built as a microservices application deployed on Azure Kubernetes Service with full DevOps automation.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917255" y="2343624"/>
            <a:ext cx="4526280" cy="2926080"/>
          </a:xfrm>
          <a:prstGeom prst="roundRect">
            <a:avLst>
              <a:gd name="adj" fmla="val 250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91575" y="2590512"/>
            <a:ext cx="502920" cy="502920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334" y="2721271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31655" y="26362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COVERED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37295" y="3276312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tracking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diagnostics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caregiver alerts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B6C4279-A470-F6C2-BDCF-FAE722F4D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517" y="-68580"/>
            <a:ext cx="679016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Dockerization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889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 Builds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872996"/>
            <a:ext cx="5532120" cy="3246120"/>
          </a:xfrm>
          <a:prstGeom prst="roundRect">
            <a:avLst>
              <a:gd name="adj" fmla="val 169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50392" y="1982724"/>
            <a:ext cx="520293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 — Builder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node:20-alpine AS builder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package*.json ./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run build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2 — Runtime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node:20-alpine AS runtime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addgroup -S appgroup &amp;&amp; \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adduser -S appuser -G appgroup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/app/dist ./dist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appuser      # non-root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5000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["node", "dist/index.js"]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534668"/>
            <a:ext cx="457200" cy="457200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65354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86600" y="15803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PRACTICES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92240" y="2083308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 (UID 1000) in every container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base images — minimal attack surface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 excludes node_modules, .env, test files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artifacts only — no source code in runtime image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pushed to Azure Container Registry (ACR)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4094988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11B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720840" y="421386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20840" y="446074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aegistestacr.azurecr.io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5131FEB-81CE-6016-CAD5-02095695B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706" y="0"/>
            <a:ext cx="69385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A74DF-3EA5-5EC8-39DA-0ABF4962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2EE99C-C99A-6E4A-AE3D-8E3DAF58C562}"/>
              </a:ext>
            </a:extLst>
          </p:cNvPr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E070D4-ADAF-8E38-130A-B9A0C6F767DC}"/>
              </a:ext>
            </a:extLst>
          </p:cNvPr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Architecture</a:t>
            </a:r>
            <a:endParaRPr lang="en-US" sz="28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E550280F-B836-0917-FD53-0013F229EB1E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444752"/>
          <a:ext cx="5486400" cy="13898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aegis-dev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aegis-prod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Replicas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1 per service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2+ for critical services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Image tags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sha-* (every push)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v*.*.* (semver release only)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HPA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Disabled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Enabled on all services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Resources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Minimal limits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Production spec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14AE0D59-BE11-A009-9F78-20F363469AAE}"/>
              </a:ext>
            </a:extLst>
          </p:cNvPr>
          <p:cNvSpPr/>
          <p:nvPr/>
        </p:nvSpPr>
        <p:spPr>
          <a:xfrm>
            <a:off x="457200" y="2999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FEATURES IN USE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086AA5A-AEE7-AE03-26AB-F3DFA88797FC}"/>
              </a:ext>
            </a:extLst>
          </p:cNvPr>
          <p:cNvSpPr/>
          <p:nvPr/>
        </p:nvSpPr>
        <p:spPr>
          <a:xfrm>
            <a:off x="457200" y="3310128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Rollouts — Canary (20% → 30s → 50% → 30s → 100%)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— CPU 70-75%, Mem 80%; min 2 / max 5 replicas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via AGIC (App Gateway Ingress Controller)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— default deny-all; explicit allow</a:t>
            </a:r>
            <a:endParaRPr lang="en-US" sz="11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6F7C6AC-2EEC-8D9F-CAD7-B5715E813C24}"/>
              </a:ext>
            </a:extLst>
          </p:cNvPr>
          <p:cNvSpPr/>
          <p:nvPr/>
        </p:nvSpPr>
        <p:spPr>
          <a:xfrm>
            <a:off x="6263640" y="1078992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D0F72AC-E442-AD51-4692-3755BE90A355}"/>
              </a:ext>
            </a:extLst>
          </p:cNvPr>
          <p:cNvSpPr/>
          <p:nvPr/>
        </p:nvSpPr>
        <p:spPr>
          <a:xfrm>
            <a:off x="6519672" y="1298448"/>
            <a:ext cx="457200" cy="457200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7AB6D5F-EFB1-046E-1C77-BDBBABCF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1417320"/>
            <a:ext cx="219456" cy="21945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07625381-6552-2359-29DD-07E11B1C7A5D}"/>
              </a:ext>
            </a:extLst>
          </p:cNvPr>
          <p:cNvSpPr/>
          <p:nvPr/>
        </p:nvSpPr>
        <p:spPr>
          <a:xfrm>
            <a:off x="7132320" y="13716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</a:t>
            </a:r>
            <a:endParaRPr lang="en-US" sz="12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87FBEB2-82CD-ABFF-094F-A3088A143F3D}"/>
              </a:ext>
            </a:extLst>
          </p:cNvPr>
          <p:cNvSpPr/>
          <p:nvPr/>
        </p:nvSpPr>
        <p:spPr>
          <a:xfrm>
            <a:off x="6537960" y="18288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SecretProviderClass — Key Vault via CSI driver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— annotated with Workload Identity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— non-sensitive config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— PostgreSQL (managed-csi PVC)</a:t>
            </a:r>
            <a:endParaRPr lang="en-US" sz="11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AD425385-32B4-A615-89B0-553CE0E5825A}"/>
              </a:ext>
            </a:extLst>
          </p:cNvPr>
          <p:cNvSpPr/>
          <p:nvPr/>
        </p:nvSpPr>
        <p:spPr>
          <a:xfrm>
            <a:off x="6537960" y="3035808"/>
            <a:ext cx="4892040" cy="0"/>
          </a:xfrm>
          <a:prstGeom prst="line">
            <a:avLst/>
          </a:prstGeom>
          <a:noFill/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F5FA587-E7DE-40FA-100B-EE4B4B92BF3C}"/>
              </a:ext>
            </a:extLst>
          </p:cNvPr>
          <p:cNvSpPr/>
          <p:nvPr/>
        </p:nvSpPr>
        <p:spPr>
          <a:xfrm>
            <a:off x="6537960" y="320040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</a:t>
            </a:r>
            <a:endParaRPr lang="en-US" sz="11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62BCA47-4824-5D8C-B462-8DC2D55BEEAB}"/>
              </a:ext>
            </a:extLst>
          </p:cNvPr>
          <p:cNvSpPr/>
          <p:nvPr/>
        </p:nvSpPr>
        <p:spPr>
          <a:xfrm>
            <a:off x="6537960" y="3429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/healthz + /ready on all HTTP services</a:t>
            </a:r>
            <a:endParaRPr lang="en-US" sz="11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D0B213F-3533-4D11-2DD0-89F654B3945A}"/>
              </a:ext>
            </a:extLst>
          </p:cNvPr>
          <p:cNvSpPr/>
          <p:nvPr/>
        </p:nvSpPr>
        <p:spPr>
          <a:xfrm>
            <a:off x="6537960" y="3730752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</a:t>
            </a:r>
            <a:endParaRPr lang="en-US" sz="11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85EDD62-087E-EF91-AA8E-4FD79C438D47}"/>
              </a:ext>
            </a:extLst>
          </p:cNvPr>
          <p:cNvSpPr/>
          <p:nvPr/>
        </p:nvSpPr>
        <p:spPr>
          <a:xfrm>
            <a:off x="6537960" y="39593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100m–500m · Mem 128Mi–512Mi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2026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Zero-Downtime Deployments &amp; Traffic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traffic reaches pods and how new versions roll out safely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20596"/>
            <a:ext cx="5074920" cy="2240280"/>
          </a:xfrm>
          <a:prstGeom prst="roundRect">
            <a:avLst>
              <a:gd name="adj" fmla="val 2857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171700" y="1885188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16233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171700" y="18851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94660" y="2250948"/>
            <a:ext cx="0" cy="256032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65860" y="2506980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1B2A45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57300" y="250698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Application Gateway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WAF-enabled · AGIC manages routing 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05940" y="3037332"/>
            <a:ext cx="0" cy="164592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83380" y="3037332"/>
            <a:ext cx="0" cy="164592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485900" y="31699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09060" y="3169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8700" y="338480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28700" y="33848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api-gateway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06140" y="338480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06140" y="33848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5060" y="1714500"/>
            <a:ext cx="5943600" cy="2628900"/>
          </a:xfrm>
          <a:prstGeom prst="roundRect">
            <a:avLst>
              <a:gd name="adj" fmla="val 2857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23660" y="18608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ROLLOUTS — CANARY STRATEGY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23660" y="2244852"/>
            <a:ext cx="502920" cy="502920"/>
          </a:xfrm>
          <a:prstGeom prst="ellipse">
            <a:avLst/>
          </a:prstGeom>
          <a:solidFill>
            <a:srgbClr val="1B2A45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23660" y="22448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63740" y="22631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→ new version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63740" y="25008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30s → monitor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0548" y="2747772"/>
            <a:ext cx="0" cy="164592"/>
          </a:xfrm>
          <a:prstGeom prst="line">
            <a:avLst/>
          </a:prstGeom>
          <a:noFill/>
          <a:ln w="15875">
            <a:solidFill>
              <a:srgbClr val="3A4A6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23660" y="2912364"/>
            <a:ext cx="502920" cy="502920"/>
          </a:xfrm>
          <a:prstGeom prst="ellipse">
            <a:avLst/>
          </a:prstGeom>
          <a:solidFill>
            <a:srgbClr val="1B2A45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23660" y="29123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63740" y="29306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→ new version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63740" y="31683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30s → monitor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0548" y="3415284"/>
            <a:ext cx="0" cy="164592"/>
          </a:xfrm>
          <a:prstGeom prst="line">
            <a:avLst/>
          </a:prstGeom>
          <a:noFill/>
          <a:ln w="15875">
            <a:solidFill>
              <a:srgbClr val="3A4A6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423660" y="3579876"/>
            <a:ext cx="502920" cy="502920"/>
          </a:xfrm>
          <a:prstGeom prst="ellipse">
            <a:avLst/>
          </a:prstGeom>
          <a:solidFill>
            <a:srgbClr val="34D399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23660" y="35798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63740" y="35981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→ new version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063740" y="38359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pods terminated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2077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workload uses argoproj.io/v1alpha1 Rollout — not standard Deployment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allows catching regressions before full rollout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AGIC automatically updates App Gateway backend pools as rollout progresses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promotion supported if auto-analysis is added later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Auto-Scaling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keeps itself healthy and scales under load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156289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17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 — ON EVERY HTTP SERVICE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5074920" cy="80467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PROBE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PATH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WHAT IT CHECKS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Liveness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/healthz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Is the process alive? Restart if not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Readiness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/ready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Is the service ready? Remove from LB if not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2788920"/>
            <a:ext cx="5074920" cy="1325880"/>
          </a:xfrm>
          <a:prstGeom prst="roundRect">
            <a:avLst>
              <a:gd name="adj" fmla="val 4828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658368" y="2944368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868680" y="287121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FAILS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Service endpoints — no traffic during cold start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58368" y="333756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868680" y="326440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PASSES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Service, traffic flows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8368" y="3730752"/>
            <a:ext cx="109728" cy="109728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868680" y="36576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FAILS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restarts container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760720" y="146304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572" y="1562892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151790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AUTOSCALER (PROD ONLY)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874520"/>
          <a:ext cx="5394960" cy="142646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</a:rPr>
                        <a:t>SERVICE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</a:rPr>
                        <a:t>MIN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</a:rPr>
                        <a:t>MAX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</a:rPr>
                        <a:t>CPU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</a:rPr>
                        <a:t>MEM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api-gateway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client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health-records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medication-service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AI agents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4"/>
          <p:cNvSpPr/>
          <p:nvPr/>
        </p:nvSpPr>
        <p:spPr>
          <a:xfrm>
            <a:off x="5760720" y="33101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targets Argo Rollout objects (not Deployments) — scales the active canary replica set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760720" y="3675888"/>
            <a:ext cx="5943600" cy="868680"/>
          </a:xfrm>
          <a:prstGeom prst="roundRect">
            <a:avLst>
              <a:gd name="adj" fmla="val 7368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5989320" y="3776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 — ENFORCED ON EVERY CONTAINER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989320" y="4023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CPU:     </a:t>
            </a:r>
            <a:r>
              <a:rPr lang="en-US" sz="10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100m</a:t>
            </a: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0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500m</a:t>
            </a: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Memory:  </a:t>
            </a:r>
            <a:r>
              <a:rPr lang="en-US" sz="10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128Mi</a:t>
            </a: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0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512Mi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Identity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static credentials, zero implicit trust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23644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1823496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7785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— DEFAULT DENY-ALL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16255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namespace has a baseline deny-all ingress policy. Each service then gets its own explicit allow rule: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656332"/>
            <a:ext cx="5074920" cy="1627632"/>
          </a:xfrm>
          <a:prstGeom prst="roundRect">
            <a:avLst>
              <a:gd name="adj" fmla="val 3371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21792" y="2766060"/>
            <a:ext cx="47457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        ← App Gateway subnet ONLY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api-gateway     ← App Gateway + internal ns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health-records  ← api-gateway pods only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medication-svc  ← api-gateway pods only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      ← api-gateway + coordinator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notification-wkr ← egress only (no inbound)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78980" y="1819656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832" y="1919508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1900" y="187452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+ WORKLOAD IDENTITY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78980" y="2258568"/>
            <a:ext cx="292608" cy="292608"/>
          </a:xfrm>
          <a:prstGeom prst="ellipse">
            <a:avLst/>
          </a:prstGeom>
          <a:solidFill>
            <a:srgbClr val="1B2A45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07898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90460" y="224942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spec references ServiceAccount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7225284" y="2551176"/>
            <a:ext cx="0" cy="128016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078980" y="2692908"/>
            <a:ext cx="292608" cy="292608"/>
          </a:xfrm>
          <a:prstGeom prst="ellipse">
            <a:avLst/>
          </a:prstGeom>
          <a:solidFill>
            <a:srgbClr val="1B2A45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078980" y="26929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490460" y="268376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annotated with client-id: "2ae07dc6-..."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7225284" y="2985516"/>
            <a:ext cx="0" cy="128016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7078980" y="3127248"/>
            <a:ext cx="292608" cy="292608"/>
          </a:xfrm>
          <a:prstGeom prst="ellipse">
            <a:avLst/>
          </a:prstGeom>
          <a:solidFill>
            <a:srgbClr val="1B2A45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07898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490460" y="311810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webhook injects federated token at runtime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7225284" y="3419856"/>
            <a:ext cx="0" cy="128016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7078980" y="3561588"/>
            <a:ext cx="292608" cy="292608"/>
          </a:xfrm>
          <a:prstGeom prst="ellipse">
            <a:avLst/>
          </a:prstGeom>
          <a:solidFill>
            <a:srgbClr val="1B2A45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7078980" y="35615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490460" y="355244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SDK uses DefaultAzureCredential — no password, no key</a:t>
            </a:r>
            <a:endParaRPr lang="en-US" sz="1080" dirty="0"/>
          </a:p>
        </p:txBody>
      </p:sp>
      <p:sp>
        <p:nvSpPr>
          <p:cNvPr id="29" name="Shape 25"/>
          <p:cNvSpPr/>
          <p:nvPr/>
        </p:nvSpPr>
        <p:spPr>
          <a:xfrm>
            <a:off x="7225284" y="3854196"/>
            <a:ext cx="0" cy="128016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7078980" y="3995928"/>
            <a:ext cx="292608" cy="292608"/>
          </a:xfrm>
          <a:prstGeom prst="ellipse">
            <a:avLst/>
          </a:prstGeom>
          <a:solidFill>
            <a:srgbClr val="1B2A45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7078980" y="3995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490460" y="398678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accesses: Key Vault, Service Bus, Blob, CosmosDB</a:t>
            </a:r>
            <a:endParaRPr lang="en-US" sz="1080" dirty="0"/>
          </a:p>
        </p:txBody>
      </p:sp>
      <p:sp>
        <p:nvSpPr>
          <p:cNvPr id="33" name="Shape 29"/>
          <p:cNvSpPr/>
          <p:nvPr/>
        </p:nvSpPr>
        <p:spPr>
          <a:xfrm>
            <a:off x="548640" y="5120640"/>
            <a:ext cx="11247120" cy="548640"/>
          </a:xfrm>
          <a:prstGeom prst="roundRect">
            <a:avLst>
              <a:gd name="adj" fmla="val 11667"/>
            </a:avLst>
          </a:prstGeom>
          <a:solidFill>
            <a:srgbClr val="111B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>
            <a:off x="713232" y="5212080"/>
            <a:ext cx="365760" cy="365760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30" y="5307178"/>
            <a:ext cx="175565" cy="175565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234440" y="51206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SecretProviderClass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secrets mounted via CSI driver at pod startup — never touches the codebase or image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&amp; Persistent 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stays outside code; state survives pod restarts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156289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17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— AEGIS-CONFIG (NON-SENSITIVE)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5074920" cy="2148840"/>
          </a:xfrm>
          <a:prstGeom prst="roundRect">
            <a:avLst>
              <a:gd name="adj" fmla="val 2553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21792" y="1984248"/>
            <a:ext cx="474573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PORT: "5000"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NODE_ENV: "production"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LOG_LEVEL: "info"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CORS_ORIGIN: "*"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ACS_SENDER_ADDRESS: "DoNotReply@..."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HEALTH_RECORDS_SERVICE_URL: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"http://health-records-service:5001"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MEDICATION_SERVICE_URL: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"http://medication-service:5002"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COORDINATOR_AGENT_URL: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"http://coordinator-agent:8000"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791456"/>
            <a:ext cx="5074920" cy="548640"/>
          </a:xfrm>
          <a:prstGeom prst="roundRect">
            <a:avLst>
              <a:gd name="adj" fmla="val 11667"/>
            </a:avLst>
          </a:prstGeom>
          <a:solidFill>
            <a:srgbClr val="111B2E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479145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port, or flag → ConfigMap.  Password, key, or token → Key Vault.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146304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572" y="1562892"/>
            <a:ext cx="184343" cy="184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640" y="151790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— POSTGRESQL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760720" y="1920240"/>
            <a:ext cx="5943600" cy="2400300"/>
          </a:xfrm>
          <a:prstGeom prst="roundRect">
            <a:avLst>
              <a:gd name="adj" fmla="val 2979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726680" y="2084832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B2A45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7726680" y="2084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StatefulSet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035040" y="2697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Stable pod name:  </a:t>
            </a: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postgres-0 (never random)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035040" y="29900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Stable DNS:  </a:t>
            </a: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postgres-0.postgres.aegis-prod.svc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732520" y="3328416"/>
            <a:ext cx="0" cy="182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7360920" y="3529584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16233B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7452360" y="35295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</a:t>
            </a:r>
            <a:endParaRPr lang="en-US" sz="10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managed-csi · prod: 20Gi · dev: 5Gi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893308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deleted → PVC stays → new pod remounts same data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893308" y="508863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chosen over Deployment: PostgreSQL requires stable identity and durable storage. All application data persists across pod and node restarts.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Pipeline (Continuous Integration)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364BCA-A607-DBD4-5178-AFC25B633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1643328"/>
            <a:ext cx="12192000" cy="40793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D8E0A-4219-38A8-352C-D0148575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32E343-6BD8-D329-C143-3A659AF60899}"/>
              </a:ext>
            </a:extLst>
          </p:cNvPr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4B110B-6C3B-D990-B7EE-DDECB4385C82}"/>
              </a:ext>
            </a:extLst>
          </p:cNvPr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 Pipeline (</a:t>
            </a:r>
            <a:r>
              <a:rPr lang="en-US" sz="2800" b="1" dirty="0" err="1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GitOps</a:t>
            </a: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Approach)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C1B60-37C4-1357-7EEC-CE1FE2CA0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496" y="1558250"/>
            <a:ext cx="12336991" cy="436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16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4B5BB-7D73-0699-28AE-13C74106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09EAD838-1552-FB14-A9FD-4F4B3FF3E937}"/>
              </a:ext>
            </a:extLst>
          </p:cNvPr>
          <p:cNvSpPr/>
          <p:nvPr/>
        </p:nvSpPr>
        <p:spPr>
          <a:xfrm>
            <a:off x="663083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Strategy</a:t>
            </a:r>
            <a:endParaRPr lang="en-US" sz="30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9045771-3F63-6C14-C4E6-5D5B807F31E1}"/>
              </a:ext>
            </a:extLst>
          </p:cNvPr>
          <p:cNvSpPr/>
          <p:nvPr/>
        </p:nvSpPr>
        <p:spPr>
          <a:xfrm>
            <a:off x="1699403" y="1435608"/>
            <a:ext cx="50292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77D93FD-0C87-FC10-A248-23C80C914229}"/>
              </a:ext>
            </a:extLst>
          </p:cNvPr>
          <p:cNvSpPr/>
          <p:nvPr/>
        </p:nvSpPr>
        <p:spPr>
          <a:xfrm>
            <a:off x="1900571" y="14356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Environment-per-branch GitOps model</a:t>
            </a:r>
            <a:endParaRPr lang="en-US" sz="12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F90A7BB-F0A6-4AF3-21DE-076D49DF4929}"/>
              </a:ext>
            </a:extLst>
          </p:cNvPr>
          <p:cNvSpPr/>
          <p:nvPr/>
        </p:nvSpPr>
        <p:spPr>
          <a:xfrm>
            <a:off x="1699403" y="1746504"/>
            <a:ext cx="397764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06B6D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184151F9-9F46-95D0-155D-05F5ECC34D24}"/>
              </a:ext>
            </a:extLst>
          </p:cNvPr>
          <p:cNvSpPr/>
          <p:nvPr/>
        </p:nvSpPr>
        <p:spPr>
          <a:xfrm>
            <a:off x="1699403" y="1746504"/>
            <a:ext cx="3977640" cy="502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FE591540-5547-EBB5-6A65-C15A6F6B6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995" y="1929384"/>
            <a:ext cx="438912" cy="438912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7195C44B-87BD-DD48-F967-BC5351FB58FF}"/>
              </a:ext>
            </a:extLst>
          </p:cNvPr>
          <p:cNvSpPr/>
          <p:nvPr/>
        </p:nvSpPr>
        <p:spPr>
          <a:xfrm>
            <a:off x="2412635" y="1892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</a:t>
            </a:r>
            <a:endParaRPr lang="en-US" sz="2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85B5CE0-7C7A-B531-AD6C-78D04A16C529}"/>
              </a:ext>
            </a:extLst>
          </p:cNvPr>
          <p:cNvSpPr/>
          <p:nvPr/>
        </p:nvSpPr>
        <p:spPr>
          <a:xfrm>
            <a:off x="1882283" y="2441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 dev namespace</a:t>
            </a:r>
            <a:endParaRPr lang="en-US" sz="13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E9409671-81C1-C199-49BE-7BCB9775ECC8}"/>
              </a:ext>
            </a:extLst>
          </p:cNvPr>
          <p:cNvSpPr/>
          <p:nvPr/>
        </p:nvSpPr>
        <p:spPr>
          <a:xfrm>
            <a:off x="1882283" y="2843784"/>
            <a:ext cx="3566160" cy="2057400"/>
          </a:xfrm>
          <a:prstGeom prst="rect">
            <a:avLst/>
          </a:prstGeom>
          <a:noFill/>
          <a:ln/>
        </p:spPr>
        <p:txBody>
          <a:bodyPr wrap="square" lIns="76200" tIns="76200" rIns="76200" bIns="0" rtlCol="0" anchor="t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development &amp; integration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and integration testing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Non-production traffic only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deploy on PR merge</a:t>
            </a:r>
            <a:endParaRPr lang="en-US" sz="115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F1847248-BCC0-F8CC-51E1-4409D25B253D}"/>
              </a:ext>
            </a:extLst>
          </p:cNvPr>
          <p:cNvSpPr/>
          <p:nvPr/>
        </p:nvSpPr>
        <p:spPr>
          <a:xfrm>
            <a:off x="5951363" y="1746504"/>
            <a:ext cx="397764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2A088551-24D6-55C2-811D-ACC89999F2FD}"/>
              </a:ext>
            </a:extLst>
          </p:cNvPr>
          <p:cNvSpPr/>
          <p:nvPr/>
        </p:nvSpPr>
        <p:spPr>
          <a:xfrm>
            <a:off x="5951363" y="1746504"/>
            <a:ext cx="3977640" cy="502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84D79280-E378-2DEF-5082-B6855B6BF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955" y="1929384"/>
            <a:ext cx="438912" cy="438912"/>
          </a:xfrm>
          <a:prstGeom prst="rect">
            <a:avLst/>
          </a:prstGeom>
        </p:spPr>
      </p:pic>
      <p:sp>
        <p:nvSpPr>
          <p:cNvPr id="30" name="Text 10">
            <a:extLst>
              <a:ext uri="{FF2B5EF4-FFF2-40B4-BE49-F238E27FC236}">
                <a16:creationId xmlns:a16="http://schemas.microsoft.com/office/drawing/2014/main" id="{A20C68A5-F98C-852D-7014-094D40BAE205}"/>
              </a:ext>
            </a:extLst>
          </p:cNvPr>
          <p:cNvSpPr/>
          <p:nvPr/>
        </p:nvSpPr>
        <p:spPr>
          <a:xfrm>
            <a:off x="6664595" y="1892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</a:t>
            </a:r>
            <a:endParaRPr lang="en-US" sz="22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060E6D11-4E91-E209-DBFE-50EAAAE8AB92}"/>
              </a:ext>
            </a:extLst>
          </p:cNvPr>
          <p:cNvSpPr/>
          <p:nvPr/>
        </p:nvSpPr>
        <p:spPr>
          <a:xfrm>
            <a:off x="6115955" y="2441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 prod namespace</a:t>
            </a:r>
            <a:endParaRPr lang="en-US" sz="13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56615883-A981-34E2-617E-1630E1A94E28}"/>
              </a:ext>
            </a:extLst>
          </p:cNvPr>
          <p:cNvSpPr/>
          <p:nvPr/>
        </p:nvSpPr>
        <p:spPr>
          <a:xfrm>
            <a:off x="6115955" y="2843784"/>
            <a:ext cx="3566160" cy="2057400"/>
          </a:xfrm>
          <a:prstGeom prst="rect">
            <a:avLst/>
          </a:prstGeom>
          <a:noFill/>
          <a:ln/>
        </p:spPr>
        <p:txBody>
          <a:bodyPr wrap="square" lIns="76200" tIns="76200" rIns="76200" bIns="0" rtlCol="0" anchor="t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 code only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branch - PR required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scan gates before merge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Monitored &amp; audited deployments</a:t>
            </a:r>
            <a:endParaRPr lang="en-US" sz="115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3BECC606-A711-7492-BCE7-50974C84A84C}"/>
              </a:ext>
            </a:extLst>
          </p:cNvPr>
          <p:cNvSpPr/>
          <p:nvPr/>
        </p:nvSpPr>
        <p:spPr>
          <a:xfrm>
            <a:off x="1699403" y="5650992"/>
            <a:ext cx="8229600" cy="347472"/>
          </a:xfrm>
          <a:prstGeom prst="rect">
            <a:avLst/>
          </a:prstGeom>
          <a:solidFill>
            <a:srgbClr val="21262D"/>
          </a:solidFill>
          <a:ln w="9525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35E3E468-892B-E21A-8351-F533CF80C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6563" y="5742432"/>
            <a:ext cx="219456" cy="219456"/>
          </a:xfrm>
          <a:prstGeom prst="rect">
            <a:avLst/>
          </a:prstGeom>
        </p:spPr>
      </p:pic>
      <p:sp>
        <p:nvSpPr>
          <p:cNvPr id="40" name="Text 14">
            <a:extLst>
              <a:ext uri="{FF2B5EF4-FFF2-40B4-BE49-F238E27FC236}">
                <a16:creationId xmlns:a16="http://schemas.microsoft.com/office/drawing/2014/main" id="{0DEF8220-4644-43B1-E7BF-A0A2F13D1FC3}"/>
              </a:ext>
            </a:extLst>
          </p:cNvPr>
          <p:cNvSpPr/>
          <p:nvPr/>
        </p:nvSpPr>
        <p:spPr>
          <a:xfrm>
            <a:off x="2174891" y="573328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Once, Deploy to Multiple Environments using the same Docker image tag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55607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>
            <a:extLst>
              <a:ext uri="{FF2B5EF4-FFF2-40B4-BE49-F238E27FC236}">
                <a16:creationId xmlns:a16="http://schemas.microsoft.com/office/drawing/2014/main" id="{51CBACDF-D5F9-68D2-F7C5-E290BA0BC21E}"/>
              </a:ext>
            </a:extLst>
          </p:cNvPr>
          <p:cNvSpPr/>
          <p:nvPr/>
        </p:nvSpPr>
        <p:spPr>
          <a:xfrm>
            <a:off x="353683" y="601089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Deployment Strategy: Without </a:t>
            </a:r>
            <a:r>
              <a:rPr lang="en-US" dirty="0" err="1">
                <a:solidFill>
                  <a:schemeClr val="bg1"/>
                </a:solidFill>
              </a:rPr>
              <a:t>ArgoCD</a:t>
            </a:r>
            <a:r>
              <a:rPr lang="en-US" dirty="0">
                <a:solidFill>
                  <a:schemeClr val="bg1"/>
                </a:solidFill>
              </a:rPr>
              <a:t> vs. With </a:t>
            </a:r>
            <a:r>
              <a:rPr lang="en-US" dirty="0" err="1">
                <a:solidFill>
                  <a:schemeClr val="bg1"/>
                </a:solidFill>
              </a:rPr>
              <a:t>ArgoCD</a:t>
            </a:r>
            <a:endParaRPr lang="en-US" dirty="0">
              <a:solidFill>
                <a:schemeClr val="bg1"/>
              </a:solidFill>
            </a:endParaRPr>
          </a:p>
          <a:p>
            <a:br>
              <a:rPr lang="en-US" dirty="0">
                <a:solidFill>
                  <a:schemeClr val="bg1"/>
                </a:solidFill>
              </a:rPr>
            </a:br>
            <a:br>
              <a:rPr lang="en-IN" sz="3200" dirty="0">
                <a:solidFill>
                  <a:schemeClr val="bg1"/>
                </a:solidFill>
              </a:rPr>
            </a:b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3F7C2FF-3AAF-7948-6C70-31F86BE3A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30" y="1907967"/>
            <a:ext cx="11298847" cy="3776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CI/CD: Infrastructure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terraform-apply.yml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triggered on changes to terraform/ folder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092165" y="345186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017" y="3551712"/>
            <a:ext cx="184343" cy="18434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595085" y="350672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3092165" y="3881628"/>
            <a:ext cx="6629400" cy="868680"/>
          </a:xfrm>
          <a:prstGeom prst="roundRect">
            <a:avLst>
              <a:gd name="adj" fmla="val 7368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3320765" y="3881628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aegis-tf-state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· tfstate container</a:t>
            </a:r>
            <a:endParaRPr lang="en-US" sz="13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locking via Azure Blob lease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092165" y="491490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017" y="5014752"/>
            <a:ext cx="184343" cy="18434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595085" y="49697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 USED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3595085" y="5244084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in code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092165" y="5527548"/>
            <a:ext cx="3086100" cy="365760"/>
          </a:xfrm>
          <a:prstGeom prst="roundRect">
            <a:avLst>
              <a:gd name="adj" fmla="val 15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3092165" y="5527548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AZURE_CLIENT_ID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361145" y="5527548"/>
            <a:ext cx="3086100" cy="365760"/>
          </a:xfrm>
          <a:prstGeom prst="roundRect">
            <a:avLst>
              <a:gd name="adj" fmla="val 15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6361145" y="5527548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AZURE_TENANT_ID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3092165" y="5984748"/>
            <a:ext cx="3086100" cy="365760"/>
          </a:xfrm>
          <a:prstGeom prst="roundRect">
            <a:avLst>
              <a:gd name="adj" fmla="val 15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3092165" y="5984748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AZURE_SUBSCRIPTION_ID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6361145" y="5984748"/>
            <a:ext cx="3086100" cy="365760"/>
          </a:xfrm>
          <a:prstGeom prst="roundRect">
            <a:avLst>
              <a:gd name="adj" fmla="val 15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6361145" y="5984748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AZURE_CLIENT_SECRET</a:t>
            </a:r>
            <a:endParaRPr lang="en-US" sz="105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6E75644-89F0-2FD2-B6EA-A13A38FB6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" y="1513952"/>
            <a:ext cx="12192000" cy="17315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 (Terraform)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Terraform 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532120" cy="3383280"/>
          </a:xfrm>
          <a:prstGeom prst="roundRect">
            <a:avLst>
              <a:gd name="adj" fmla="val 1622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527048"/>
            <a:ext cx="520293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terraform/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              ← root orchestrator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variables.tf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terraform.tfvars     ← all config values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outputs.tf           ← endpoints, ACR, KV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modules/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networking/      ← VNet, subnets, NSGs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aks/             ← AKS cluster, node pools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acr/             ← Azure Container Registry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key-vault/       ← Key Vault + policies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storage/         ← Blob Storage for records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identity/        ← UAMI, federated creds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app-gateway/     ← WAF-enabled App Gateway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service-bus/     ← aegis-test-bus + queue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cosmos-db/       ← MongoDB-compatible DB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monitoring/      ← App Insights, Log Analytics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457200" cy="457200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3619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MET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63640" y="2011680"/>
            <a:ext cx="5440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 tagged: Environment = test, Owner = aegis-team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values — all via terraform.tfvars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validate and terraform fmt pass clean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excludes *.tfstate, .env, *.tfvars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document all endpoints and resource names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4160520"/>
            <a:ext cx="5440680" cy="502920"/>
          </a:xfrm>
          <a:prstGeom prst="roundRect">
            <a:avLst>
              <a:gd name="adj" fmla="val 12727"/>
            </a:avLst>
          </a:prstGeom>
          <a:solidFill>
            <a:srgbClr val="111B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46520" y="41605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modules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fully composable · single root orchestrator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D66032C-EB21-55B5-2D31-73A2881F4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713" y="0"/>
            <a:ext cx="94325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494B8-2F16-45FC-5DD8-CCC673785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FE46E5-EF39-4062-3E6A-E2804E8F5AE0}"/>
              </a:ext>
            </a:extLst>
          </p:cNvPr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577803-5F68-7E6C-4F51-2A6C397C4806}"/>
              </a:ext>
            </a:extLst>
          </p:cNvPr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Integration &amp; Workload Identity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273AE4-9651-FEA0-D5BA-255E00084D56}"/>
              </a:ext>
            </a:extLst>
          </p:cNvPr>
          <p:cNvSpPr/>
          <p:nvPr/>
        </p:nvSpPr>
        <p:spPr>
          <a:xfrm>
            <a:off x="457200" y="10789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static credentials — all pod-to-cloud via Workload Identity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0ABDA7-9773-AFDC-977E-9229D745D200}"/>
              </a:ext>
            </a:extLst>
          </p:cNvPr>
          <p:cNvSpPr/>
          <p:nvPr/>
        </p:nvSpPr>
        <p:spPr>
          <a:xfrm>
            <a:off x="457200" y="1444752"/>
            <a:ext cx="4663440" cy="3246120"/>
          </a:xfrm>
          <a:prstGeom prst="roundRect">
            <a:avLst>
              <a:gd name="adj" fmla="val 1972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BFCC4B7-BAD0-C25A-E406-6951D3D68959}"/>
              </a:ext>
            </a:extLst>
          </p:cNvPr>
          <p:cNvSpPr/>
          <p:nvPr/>
        </p:nvSpPr>
        <p:spPr>
          <a:xfrm>
            <a:off x="685800" y="1591056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210B53-FF17-2234-77AF-6F96D0AAC6DE}"/>
              </a:ext>
            </a:extLst>
          </p:cNvPr>
          <p:cNvSpPr/>
          <p:nvPr/>
        </p:nvSpPr>
        <p:spPr>
          <a:xfrm>
            <a:off x="868680" y="159105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starts</a:t>
            </a:r>
            <a:endParaRPr lang="en-US" sz="103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13A65FB-C250-C549-4352-A75C853AAE54}"/>
              </a:ext>
            </a:extLst>
          </p:cNvPr>
          <p:cNvSpPr/>
          <p:nvPr/>
        </p:nvSpPr>
        <p:spPr>
          <a:xfrm>
            <a:off x="2788920" y="2103120"/>
            <a:ext cx="0" cy="9601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5859C9D-6D30-247F-CA47-14758754D698}"/>
              </a:ext>
            </a:extLst>
          </p:cNvPr>
          <p:cNvSpPr/>
          <p:nvPr/>
        </p:nvSpPr>
        <p:spPr>
          <a:xfrm>
            <a:off x="685800" y="2199132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80F9DF-B32D-8FDA-B10D-78B916891E02}"/>
              </a:ext>
            </a:extLst>
          </p:cNvPr>
          <p:cNvSpPr/>
          <p:nvPr/>
        </p:nvSpPr>
        <p:spPr>
          <a:xfrm>
            <a:off x="868680" y="219913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annotated with UAMI client-id</a:t>
            </a:r>
            <a:endParaRPr lang="en-US" sz="103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F96BAFA-E587-8B94-29BB-E31681B453C4}"/>
              </a:ext>
            </a:extLst>
          </p:cNvPr>
          <p:cNvSpPr/>
          <p:nvPr/>
        </p:nvSpPr>
        <p:spPr>
          <a:xfrm>
            <a:off x="2788920" y="2711196"/>
            <a:ext cx="0" cy="9601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4D8B445-9238-5B96-0152-700F845431A9}"/>
              </a:ext>
            </a:extLst>
          </p:cNvPr>
          <p:cNvSpPr/>
          <p:nvPr/>
        </p:nvSpPr>
        <p:spPr>
          <a:xfrm>
            <a:off x="685800" y="2807208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3F3D81B-FFC3-2B3E-C723-38683D648732}"/>
              </a:ext>
            </a:extLst>
          </p:cNvPr>
          <p:cNvSpPr/>
          <p:nvPr/>
        </p:nvSpPr>
        <p:spPr>
          <a:xfrm>
            <a:off x="868680" y="280720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Workload Identity webhook injects federated token</a:t>
            </a:r>
            <a:endParaRPr lang="en-US" sz="103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8F832F-F649-2E28-05DB-21657D02CB4C}"/>
              </a:ext>
            </a:extLst>
          </p:cNvPr>
          <p:cNvSpPr/>
          <p:nvPr/>
        </p:nvSpPr>
        <p:spPr>
          <a:xfrm>
            <a:off x="2788920" y="3319272"/>
            <a:ext cx="0" cy="9601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A9BF459-9BD0-67D3-E734-7CFE3CE86D5E}"/>
              </a:ext>
            </a:extLst>
          </p:cNvPr>
          <p:cNvSpPr/>
          <p:nvPr/>
        </p:nvSpPr>
        <p:spPr>
          <a:xfrm>
            <a:off x="685800" y="3415284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CFA8CB5-C249-2724-8C26-26DB96D5B251}"/>
              </a:ext>
            </a:extLst>
          </p:cNvPr>
          <p:cNvSpPr/>
          <p:nvPr/>
        </p:nvSpPr>
        <p:spPr>
          <a:xfrm>
            <a:off x="868680" y="341528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SDK auto-authenticates via DefaultAzureCredential</a:t>
            </a:r>
            <a:endParaRPr lang="en-US" sz="103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0A90919-19E4-56FE-6072-2BA26610C630}"/>
              </a:ext>
            </a:extLst>
          </p:cNvPr>
          <p:cNvSpPr/>
          <p:nvPr/>
        </p:nvSpPr>
        <p:spPr>
          <a:xfrm>
            <a:off x="2788920" y="3927348"/>
            <a:ext cx="0" cy="9601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26CF965-FAFC-98B5-CB6D-6D192A645E29}"/>
              </a:ext>
            </a:extLst>
          </p:cNvPr>
          <p:cNvSpPr/>
          <p:nvPr/>
        </p:nvSpPr>
        <p:spPr>
          <a:xfrm>
            <a:off x="685800" y="4023360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79ED69D-1B9D-9DF3-6CCC-3670EC7752F9}"/>
              </a:ext>
            </a:extLst>
          </p:cNvPr>
          <p:cNvSpPr/>
          <p:nvPr/>
        </p:nvSpPr>
        <p:spPr>
          <a:xfrm>
            <a:off x="868680" y="40233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Accesses: Key Vault, Blob, Service Bus, CosmosDB, App Insights</a:t>
            </a:r>
            <a:endParaRPr lang="en-US" sz="103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703B642-F14E-60F0-CC87-B6EF59F4E34A}"/>
              </a:ext>
            </a:extLst>
          </p:cNvPr>
          <p:cNvSpPr/>
          <p:nvPr/>
        </p:nvSpPr>
        <p:spPr>
          <a:xfrm>
            <a:off x="5394960" y="1444752"/>
            <a:ext cx="6309360" cy="566928"/>
          </a:xfrm>
          <a:prstGeom prst="roundRect">
            <a:avLst>
              <a:gd name="adj" fmla="val 11290"/>
            </a:avLst>
          </a:prstGeom>
          <a:solidFill>
            <a:srgbClr val="111B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7AB6CF8-3614-DC82-F497-A3F4C74A1E37}"/>
              </a:ext>
            </a:extLst>
          </p:cNvPr>
          <p:cNvSpPr/>
          <p:nvPr/>
        </p:nvSpPr>
        <p:spPr>
          <a:xfrm>
            <a:off x="5577840" y="144475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UAMI:  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aegis-test-workload-identity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B297E4E-67BB-2AA1-62A3-4D3139C18731}"/>
              </a:ext>
            </a:extLst>
          </p:cNvPr>
          <p:cNvSpPr/>
          <p:nvPr/>
        </p:nvSpPr>
        <p:spPr>
          <a:xfrm>
            <a:off x="5394960" y="206654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credentials configured for both aegis-dev and aegis-prod namespaces</a:t>
            </a: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DEF62DB-1D40-7C07-3C9F-9E17DAB15167}"/>
              </a:ext>
            </a:extLst>
          </p:cNvPr>
          <p:cNvSpPr/>
          <p:nvPr/>
        </p:nvSpPr>
        <p:spPr>
          <a:xfrm>
            <a:off x="5394960" y="243230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SERVICES CONNECTED FROM PODS</a:t>
            </a:r>
            <a:endParaRPr lang="en-US" sz="1100" dirty="0"/>
          </a:p>
        </p:txBody>
      </p:sp>
      <p:graphicFrame>
        <p:nvGraphicFramePr>
          <p:cNvPr id="24" name="Table 0">
            <a:extLst>
              <a:ext uri="{FF2B5EF4-FFF2-40B4-BE49-F238E27FC236}">
                <a16:creationId xmlns:a16="http://schemas.microsoft.com/office/drawing/2014/main" id="{01E099EA-51F1-9414-1F73-2DC12D94DDAB}"/>
              </a:ext>
            </a:extLst>
          </p:cNvPr>
          <p:cNvGraphicFramePr>
            <a:graphicFrameLocks noGrp="1"/>
          </p:cNvGraphicFramePr>
          <p:nvPr/>
        </p:nvGraphicFramePr>
        <p:xfrm>
          <a:off x="5394960" y="2724912"/>
          <a:ext cx="6309360" cy="19202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SERVICE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USED FOR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Azure Key Vault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11 secrets mounted via CSI driver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Azure CosmosDB (MongoDB)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All application data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Azure Blob Storage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Medical image / document storage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Azure Service Bus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Async missed-dose event queue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Azure Communication Services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Caregiver email alerts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Application Insights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Distributed telemetry &amp; logging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09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</a:t>
            </a: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async missed-dose notification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54480" y="141732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B2A45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3736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misses medication threshold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40480" y="1874520"/>
            <a:ext cx="0" cy="12344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54480" y="1997964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37360" y="19979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api-gateway (publisher)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@azure/service-bus SDK · ServiceBusSender.sendMessages()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0" y="2455164"/>
            <a:ext cx="0" cy="12344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554480" y="2578608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737360" y="2578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aegis-test-bus / notifications queue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tier, Azure Service Bus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0" y="3035808"/>
            <a:ext cx="0" cy="12344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554480" y="3159252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737360" y="31592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notification-worker (consumer)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peekLock mode → processMessage()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0" y="3616452"/>
            <a:ext cx="0" cy="12344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554480" y="3739896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737360" y="37398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Communication Services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EmailClient.beginSend()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840480" y="4197096"/>
            <a:ext cx="0" cy="12344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554480" y="432054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B2A45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737360" y="43205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inbox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alert email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141732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111B2E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720840" y="1627632"/>
            <a:ext cx="411480" cy="411480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825" y="1734617"/>
            <a:ext cx="197510" cy="19751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2694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GUARD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20840" y="2057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caregiverAlerted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flag in </a:t>
            </a: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SystemStatus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 prevents repeat sends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492240" y="301752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6720840" y="3227832"/>
            <a:ext cx="411480" cy="411480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825" y="3334817"/>
            <a:ext cx="197510" cy="19751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26948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POLLING PATH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720840" y="36576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20s, an independent check detects schedule breaches and feeds the same notification queue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integrations across the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58368" y="1627632"/>
            <a:ext cx="420624" cy="420624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30" y="1736994"/>
            <a:ext cx="201900" cy="2019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60120" y="1563624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60120" y="1563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" y="212140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8368" y="250545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ai-service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" y="2779776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health assistant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medication &amp; lifestyle recommendations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persisted in CosmosDB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33672" y="1444752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434840" y="1627632"/>
            <a:ext cx="420624" cy="420624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202" y="1736994"/>
            <a:ext cx="201900" cy="2019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36592" y="1563624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4736592" y="1563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434840" y="212140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434840" y="250545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diagnostic-agent-service + image-analysis-agent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434840" y="2779776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symptom analysis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anomaly detection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diagnostic report generation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10144" y="1444752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8211312" y="1627632"/>
            <a:ext cx="420624" cy="420624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0674" y="1736994"/>
            <a:ext cx="201900" cy="2019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513064" y="1563624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8513064" y="1563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211312" y="212140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Document Intelligence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8211312" y="250545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imaging-service + Function App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8211312" y="2779776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on uploaded medical documents and scans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structured data from PDFs and images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automatically via Blob Storage event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57200" y="3950208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11B2E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658368" y="4133088"/>
            <a:ext cx="411480" cy="411480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3" y="4240073"/>
            <a:ext cx="197510" cy="19751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207008" y="395020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orchestration:  </a:t>
            </a:r>
            <a:r>
              <a:rPr lang="en-US" sz="11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coordinator-agent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dispatches tasks to </a:t>
            </a: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image-analysis-agent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patient-history-agent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diagnostic-agent-service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parallel, then merges results into a unified report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baked into every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2697480" cy="3063240"/>
          </a:xfrm>
          <a:prstGeom prst="roundRect">
            <a:avLst>
              <a:gd name="adj" fmla="val 2373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20" y="1727484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06654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Level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2377440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 — type errors block build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with security ruleset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in any file or git history (verified)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291840" y="1444752"/>
            <a:ext cx="2697480" cy="3063240"/>
          </a:xfrm>
          <a:prstGeom prst="roundRect">
            <a:avLst>
              <a:gd name="adj" fmla="val 2373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493008" y="1627632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860" y="1727484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206654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Level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93008" y="2377440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 — no dev dependencies in runtime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 (UID 1000) in all containers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 on every image — blocks HIGH/CRITICAL CVEs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base — minimal OS attack surface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6126480" y="1444752"/>
            <a:ext cx="2697480" cy="3063240"/>
          </a:xfrm>
          <a:prstGeom prst="roundRect">
            <a:avLst>
              <a:gd name="adj" fmla="val 2373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327648" y="1627632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500" y="1727484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206654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Level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27648" y="2377440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runAsNonRoot: true, allowPrivilegeEscalation: false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 drop: [ALL] on all containers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— default deny-all ingress per namespace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CSI Secret Provider — never in ConfigMaps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namespace-scoped, minimal permissions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8961120" y="1444752"/>
            <a:ext cx="2697480" cy="3063240"/>
          </a:xfrm>
          <a:prstGeom prst="roundRect">
            <a:avLst>
              <a:gd name="adj" fmla="val 2373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162288" y="1627632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140" y="1727484"/>
            <a:ext cx="184343" cy="184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62288" y="206654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Level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162288" y="2377440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— no client_secret in pod env vars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access policies scoped per UAMI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Gateway WAF policy on all ingress traffic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encrypted at rest (Azure Storage)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excludes *.tfstate, *.tfvars, .env</a:t>
            </a:r>
            <a:endParaRPr lang="en-US" sz="9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1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1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685800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8522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7632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SUMMARY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27632" y="10241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Health Platform: Delivered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822960" y="19659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2960" y="20756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960120" y="2715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93592" y="19659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593592" y="20756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730752" y="2715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64224" y="19659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364224" y="20756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501384" y="2715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2296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ACROSS EVERY PILLAR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3816" y="3822193"/>
            <a:ext cx="2414016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813816" y="3822193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64992" y="3822193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364992" y="3822193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148072" y="3822193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148072" y="3822193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91072" y="3822193"/>
            <a:ext cx="3182112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291072" y="3822193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3816" y="4251961"/>
            <a:ext cx="2542032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13816" y="4251961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493008" y="4251961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3493008" y="4251961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148072" y="4251961"/>
            <a:ext cx="3566160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5148072" y="4251961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13816" y="4681729"/>
            <a:ext cx="2157984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813816" y="4681729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108960" y="4681729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108960" y="4681729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8719</TotalTime>
  <Words>1783</Words>
  <Application>Microsoft Office PowerPoint</Application>
  <PresentationFormat>Widescreen</PresentationFormat>
  <Paragraphs>382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Health Platform — Cloud Native DevOps Pipeline</dc:title>
  <dc:subject>PptxGenJS Presentation</dc:subject>
  <dc:creator>Aegis Health Platform Team</dc:creator>
  <cp:lastModifiedBy>Aswin Aswathy Saju(UST,IN)</cp:lastModifiedBy>
  <cp:revision>6</cp:revision>
  <dcterms:created xsi:type="dcterms:W3CDTF">2026-06-23T09:48:04Z</dcterms:created>
  <dcterms:modified xsi:type="dcterms:W3CDTF">2026-06-30T05:42:36Z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2026-06-25T04:26:54Z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14b2b1bc-88bd-4dea-be00-abc84b71abfc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